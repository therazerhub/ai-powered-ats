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23960" y="-502920"/>
            <a:ext cx="4114800" cy="4114800"/>
          </a:xfrm>
          <a:prstGeom prst="ellipse">
            <a:avLst/>
          </a:prstGeom>
          <a:solidFill>
            <a:srgbClr val="155E52"/>
          </a:solidFill>
          <a:ln>
            <a:solidFill>
              <a:srgbClr val="155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109728"/>
            <a:ext cx="2926080" cy="2926080"/>
          </a:xfrm>
          <a:prstGeom prst="ellipse">
            <a:avLst/>
          </a:prstGeom>
          <a:solidFill>
            <a:srgbClr val="237D6D"/>
          </a:solidFill>
          <a:ln>
            <a:solidFill>
              <a:srgbClr val="237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658368"/>
            <a:ext cx="1691640" cy="1691640"/>
          </a:xfrm>
          <a:prstGeom prst="ellipse">
            <a:avLst/>
          </a:prstGeom>
          <a:solidFill>
            <a:srgbClr val="5BD7B6"/>
          </a:solidFill>
          <a:ln>
            <a:solidFill>
              <a:srgbClr val="5BD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5BD7B6"/>
          </a:solidFill>
          <a:ln>
            <a:solidFill>
              <a:srgbClr val="5BD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06324"/>
            <a:ext cx="3108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102C28"/>
                </a:solidFill>
                <a:latin typeface="Aptos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0896"/>
            <a:ext cx="12801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TalentIQ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16736"/>
            <a:ext cx="2971800" cy="310896"/>
          </a:xfrm>
          <a:prstGeom prst="roundRect">
            <a:avLst>
              <a:gd name="adj" fmla="val 12000"/>
            </a:avLst>
          </a:prstGeom>
          <a:solidFill>
            <a:srgbClr val="1C463E"/>
          </a:solidFill>
          <a:ln>
            <a:solidFill>
              <a:srgbClr val="1C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325880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A8E8D7"/>
                </a:solidFill>
                <a:latin typeface="Aptos"/>
              </a:rPr>
              <a:t>DJANGO  •  SQLITE  •  OPENROUTER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28800"/>
            <a:ext cx="6766560" cy="1627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AI-Powered </a:t>
            </a:r>
            <a:r>
              <a:rPr sz="3900" b="1">
                <a:solidFill>
                  <a:srgbClr val="5BD7B6"/>
                </a:solidFill>
                <a:latin typeface="Aptos"/>
              </a:rPr>
              <a:t>Applicant
Tracking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75887"/>
            <a:ext cx="608076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D4E5E0"/>
                </a:solidFill>
                <a:latin typeface="Aptos"/>
              </a:rPr>
              <a:t>A skills-first recruitment workflow for candidates and recruiters — with transparent, advisory AI analysis.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4773168"/>
            <a:ext cx="5330952" cy="0"/>
          </a:xfrm>
          <a:prstGeom prst="line">
            <a:avLst/>
          </a:prstGeom>
          <a:ln w="12700">
            <a:solidFill>
              <a:srgbClr val="3562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4992624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BD7B6"/>
                </a:solidFill>
                <a:latin typeface="Aptos"/>
              </a:rPr>
              <a:t>PROJECT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285232"/>
            <a:ext cx="2560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TalentIQ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2130552"/>
            <a:ext cx="3246120" cy="3337560"/>
          </a:xfrm>
          <a:prstGeom prst="roundRect">
            <a:avLst>
              <a:gd name="adj" fmla="val 12000"/>
            </a:avLst>
          </a:prstGeom>
          <a:solidFill>
            <a:srgbClr val="173B35"/>
          </a:solidFill>
          <a:ln>
            <a:solidFill>
              <a:srgbClr val="356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2432304"/>
            <a:ext cx="16002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BFD2CD"/>
                </a:solidFill>
                <a:latin typeface="Aptos"/>
              </a:rPr>
              <a:t>CANDIDATE MATCH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74352" y="2386584"/>
            <a:ext cx="749808" cy="310896"/>
          </a:xfrm>
          <a:prstGeom prst="roundRect">
            <a:avLst>
              <a:gd name="adj" fmla="val 12000"/>
            </a:avLst>
          </a:prstGeom>
          <a:solidFill>
            <a:srgbClr val="237D6D"/>
          </a:solidFill>
          <a:ln>
            <a:solidFill>
              <a:srgbClr val="237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74352" y="2395727"/>
            <a:ext cx="74980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LIVE AI</a:t>
            </a:r>
          </a:p>
        </p:txBody>
      </p:sp>
      <p:sp>
        <p:nvSpPr>
          <p:cNvPr id="19" name="Oval 18"/>
          <p:cNvSpPr/>
          <p:nvPr/>
        </p:nvSpPr>
        <p:spPr>
          <a:xfrm>
            <a:off x="8430768" y="2889504"/>
            <a:ext cx="1417320" cy="1417320"/>
          </a:xfrm>
          <a:prstGeom prst="ellipse">
            <a:avLst/>
          </a:prstGeom>
          <a:solidFill>
            <a:srgbClr val="21463E"/>
          </a:solidFill>
          <a:ln>
            <a:solidFill>
              <a:srgbClr val="5BD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3081528"/>
            <a:ext cx="14173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88%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3685032"/>
            <a:ext cx="14173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BFD2CD"/>
                </a:solidFill>
                <a:latin typeface="Aptos"/>
              </a:rPr>
              <a:t>advisory 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4590288"/>
            <a:ext cx="1005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8632" y="4590288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>
                <a:solidFill>
                  <a:srgbClr val="5BD7B6"/>
                </a:solidFill>
                <a:latin typeface="Aptos"/>
              </a:rPr>
              <a:t>MATCH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82127" y="4919472"/>
            <a:ext cx="2523745" cy="0"/>
          </a:xfrm>
          <a:prstGeom prst="line">
            <a:avLst/>
          </a:prstGeom>
          <a:ln w="12700">
            <a:solidFill>
              <a:srgbClr val="3562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882127" y="5074920"/>
            <a:ext cx="25237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BFD2CD"/>
                </a:solidFill>
                <a:latin typeface="Aptos"/>
              </a:rPr>
              <a:t>Human decision required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3657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9CB7B0"/>
                </a:solidFill>
                <a:latin typeface="Aptos"/>
              </a:rPr>
              <a:t>AI-POWERED ATS  •  PROJECT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5760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>
                <a:solidFill>
                  <a:srgbClr val="9CB7B0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102C28"/>
          </a:solidFill>
          <a:ln>
            <a:solidFill>
              <a:srgbClr val="102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6324"/>
            <a:ext cx="3108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2801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02C28"/>
                </a:solidFill>
                <a:latin typeface="Aptos"/>
              </a:rPr>
              <a:t>TalentIQ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37D6D"/>
                </a:solidFill>
                <a:latin typeface="Aptos"/>
              </a:rPr>
              <a:t>01  / 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60704"/>
            <a:ext cx="108813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2321"/>
                </a:solidFill>
                <a:latin typeface="Aptos"/>
              </a:rPr>
              <a:t>Recruitment breaks when evidence gets fragmented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64208"/>
            <a:ext cx="106070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667572"/>
                </a:solidFill>
                <a:latin typeface="Aptos"/>
              </a:rPr>
              <a:t>The project addresses workflow friction—not a lack of candidate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3657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667572"/>
                </a:solidFill>
                <a:latin typeface="Aptos"/>
              </a:rPr>
              <a:t>AI-POWERED ATS  •  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760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>
                <a:solidFill>
                  <a:srgbClr val="667572"/>
                </a:solidFill>
                <a:latin typeface="Aptos"/>
              </a:rPr>
              <a:t>02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31720"/>
            <a:ext cx="3383280" cy="2258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331720"/>
            <a:ext cx="64008" cy="2258568"/>
          </a:xfrm>
          <a:prstGeom prst="rect">
            <a:avLst/>
          </a:prstGeom>
          <a:solidFill>
            <a:srgbClr val="D69338"/>
          </a:solidFill>
          <a:ln>
            <a:solidFill>
              <a:srgbClr val="D69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2587752"/>
            <a:ext cx="493776" cy="493776"/>
          </a:xfrm>
          <a:prstGeom prst="ellipse">
            <a:avLst/>
          </a:prstGeom>
          <a:solidFill>
            <a:srgbClr val="D69338"/>
          </a:solidFill>
          <a:ln>
            <a:solidFill>
              <a:srgbClr val="D69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587752"/>
            <a:ext cx="493776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2560320"/>
            <a:ext cx="2240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62321"/>
                </a:solidFill>
                <a:latin typeface="Aptos"/>
              </a:rPr>
              <a:t>Scattered qualification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2990087"/>
            <a:ext cx="2240280" cy="1453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667572"/>
                </a:solidFill>
                <a:latin typeface="Aptos"/>
              </a:rPr>
              <a:t>Profiles, skills, projects, education and PDF resumes are difficult to compare consistently.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2331720"/>
            <a:ext cx="3383280" cy="2258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7408" y="2331720"/>
            <a:ext cx="64008" cy="2258568"/>
          </a:xfrm>
          <a:prstGeom prst="rect">
            <a:avLst/>
          </a:prstGeom>
          <a:solidFill>
            <a:srgbClr val="B85450"/>
          </a:solidFill>
          <a:ln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63440" y="2587752"/>
            <a:ext cx="493776" cy="493776"/>
          </a:xfrm>
          <a:prstGeom prst="ellipse">
            <a:avLst/>
          </a:prstGeom>
          <a:solidFill>
            <a:srgbClr val="B85450"/>
          </a:solidFill>
          <a:ln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587752"/>
            <a:ext cx="493776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560320"/>
            <a:ext cx="2240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62321"/>
                </a:solidFill>
                <a:latin typeface="Aptos"/>
              </a:rPr>
              <a:t>Manual pipeline overhead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990087"/>
            <a:ext cx="2240280" cy="1453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667572"/>
                </a:solidFill>
                <a:latin typeface="Aptos"/>
              </a:rPr>
              <a:t>Recruiters need one place to manage jobs, applications, status changes and interviews.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0456" y="2331720"/>
            <a:ext cx="3383280" cy="2258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0456" y="2331720"/>
            <a:ext cx="64008" cy="2258568"/>
          </a:xfrm>
          <a:prstGeom prst="rect">
            <a:avLst/>
          </a:prstGeom>
          <a:solidFill>
            <a:srgbClr val="4263EB"/>
          </a:solidFill>
          <a:ln>
            <a:solidFill>
              <a:srgbClr val="4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76488" y="2587752"/>
            <a:ext cx="493776" cy="493776"/>
          </a:xfrm>
          <a:prstGeom prst="ellipse">
            <a:avLst/>
          </a:prstGeom>
          <a:solidFill>
            <a:srgbClr val="4263EB"/>
          </a:solidFill>
          <a:ln>
            <a:solidFill>
              <a:srgbClr val="4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6488" y="2587752"/>
            <a:ext cx="493776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2560320"/>
            <a:ext cx="2240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62321"/>
                </a:solidFill>
                <a:latin typeface="Aptos"/>
              </a:rPr>
              <a:t>Opaque screening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8" y="2990087"/>
            <a:ext cx="2240280" cy="1453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667572"/>
                </a:solidFill>
                <a:latin typeface="Aptos"/>
              </a:rPr>
              <a:t>A score without evidence or human review can turn assistance into an unaccountable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70432" y="5074920"/>
            <a:ext cx="9857232" cy="786384"/>
          </a:xfrm>
          <a:prstGeom prst="roundRect">
            <a:avLst>
              <a:gd name="adj" fmla="val 12000"/>
            </a:avLst>
          </a:prstGeom>
          <a:solidFill>
            <a:srgbClr val="102C28"/>
          </a:solidFill>
          <a:ln>
            <a:solidFill>
              <a:srgbClr val="102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81328" y="5285232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BD7B6"/>
                </a:solidFill>
                <a:latin typeface="Aptos"/>
              </a:rPr>
              <a:t>Design 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202936"/>
            <a:ext cx="779068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How can one system organize the workflow, surface job-relevant evidence, and keep recruiters accountable?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5BD7B6"/>
          </a:solidFill>
          <a:ln>
            <a:solidFill>
              <a:srgbClr val="5BD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6324"/>
            <a:ext cx="3108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102C28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2801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TalentIQ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BD7B6"/>
                </a:solidFill>
                <a:latin typeface="Aptos"/>
              </a:rPr>
              <a:t>02  / 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60704"/>
            <a:ext cx="108813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One workflow from profile to hiring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64208"/>
            <a:ext cx="106070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BFD2CD"/>
                </a:solidFill>
                <a:latin typeface="Aptos"/>
              </a:rPr>
              <a:t>TalentIQ connects candidate records, job requirements and recruiter 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3657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9CB7B0"/>
                </a:solidFill>
                <a:latin typeface="Aptos"/>
              </a:rPr>
              <a:t>AI-POWERED ATS  •  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760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>
                <a:solidFill>
                  <a:srgbClr val="9CB7B0"/>
                </a:solidFill>
                <a:latin typeface="Aptos"/>
              </a:rPr>
              <a:t>03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2350008" cy="2331720"/>
          </a:xfrm>
          <a:prstGeom prst="roundRect">
            <a:avLst>
              <a:gd name="adj" fmla="val 12000"/>
            </a:avLst>
          </a:prstGeom>
          <a:solidFill>
            <a:srgbClr val="173B35"/>
          </a:solidFill>
          <a:ln>
            <a:solidFill>
              <a:srgbClr val="356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06624"/>
            <a:ext cx="4389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BD7B6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82112"/>
            <a:ext cx="1874519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Build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4"/>
            <a:ext cx="1874519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BFD2CD"/>
                </a:solidFill>
                <a:latin typeface="Aptos"/>
              </a:rPr>
              <a:t>Skills, education, experience, projects, certifications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2487168"/>
            <a:ext cx="2350008" cy="2331720"/>
          </a:xfrm>
          <a:prstGeom prst="roundRect">
            <a:avLst>
              <a:gd name="adj" fmla="val 12000"/>
            </a:avLst>
          </a:prstGeom>
          <a:solidFill>
            <a:srgbClr val="173B35"/>
          </a:solidFill>
          <a:ln>
            <a:solidFill>
              <a:srgbClr val="356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1608" y="2706624"/>
            <a:ext cx="4389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BD7B6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3182112"/>
            <a:ext cx="1874519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Apply with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3803904"/>
            <a:ext cx="1874519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BFD2CD"/>
                </a:solidFill>
                <a:latin typeface="Aptos"/>
              </a:rPr>
              <a:t>Active resume and optional cover letter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2487168"/>
            <a:ext cx="2350008" cy="2331720"/>
          </a:xfrm>
          <a:prstGeom prst="roundRect">
            <a:avLst>
              <a:gd name="adj" fmla="val 12000"/>
            </a:avLst>
          </a:prstGeom>
          <a:solidFill>
            <a:srgbClr val="173B35"/>
          </a:solidFill>
          <a:ln>
            <a:solidFill>
              <a:srgbClr val="356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2706624"/>
            <a:ext cx="4389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BD7B6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3182112"/>
            <a:ext cx="1874519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Compare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3803904"/>
            <a:ext cx="1874519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BFD2CD"/>
                </a:solidFill>
                <a:latin typeface="Aptos"/>
              </a:rPr>
              <a:t>AI-assisted match, gaps, strengths and concerns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2487168"/>
            <a:ext cx="2350008" cy="2331720"/>
          </a:xfrm>
          <a:prstGeom prst="roundRect">
            <a:avLst>
              <a:gd name="adj" fmla="val 12000"/>
            </a:avLst>
          </a:prstGeom>
          <a:solidFill>
            <a:srgbClr val="173B35"/>
          </a:solidFill>
          <a:ln>
            <a:solidFill>
              <a:srgbClr val="356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27464" y="2706624"/>
            <a:ext cx="4389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BD7B6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4" y="3182112"/>
            <a:ext cx="1874519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Move the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4" y="3803904"/>
            <a:ext cx="1874519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BFD2CD"/>
                </a:solidFill>
                <a:latin typeface="Aptos"/>
              </a:rPr>
              <a:t>Review, shortlist, interview, select or reject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2384" y="3410712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900" b="1">
                <a:solidFill>
                  <a:srgbClr val="5BD7B6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3410712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900" b="1">
                <a:solidFill>
                  <a:srgbClr val="5BD7B6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10712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900" b="1">
                <a:solidFill>
                  <a:srgbClr val="5BD7B6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84248" y="5239512"/>
            <a:ext cx="8211312" cy="539496"/>
          </a:xfrm>
          <a:prstGeom prst="roundRect">
            <a:avLst>
              <a:gd name="adj" fmla="val 12000"/>
            </a:avLst>
          </a:prstGeom>
          <a:solidFill>
            <a:srgbClr val="1C463E"/>
          </a:solidFill>
          <a:ln>
            <a:solidFill>
              <a:srgbClr val="356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84248" y="5358384"/>
            <a:ext cx="821131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D4E5E0"/>
                </a:solidFill>
                <a:latin typeface="Aptos"/>
              </a:rPr>
              <a:t>Shared system of record: Django models + SQLite + role-aware 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102C28"/>
          </a:solidFill>
          <a:ln>
            <a:solidFill>
              <a:srgbClr val="102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6324"/>
            <a:ext cx="3108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2801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02C28"/>
                </a:solidFill>
                <a:latin typeface="Aptos"/>
              </a:rPr>
              <a:t>TalentIQ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37D6D"/>
                </a:solidFill>
                <a:latin typeface="Aptos"/>
              </a:rPr>
              <a:t>03  / 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60704"/>
            <a:ext cx="108813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2321"/>
                </a:solidFill>
                <a:latin typeface="Aptos"/>
              </a:rPr>
              <a:t>Two role-aware journeys, one recruitment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64208"/>
            <a:ext cx="106070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667572"/>
                </a:solidFill>
                <a:latin typeface="Aptos"/>
              </a:rPr>
              <a:t>Views route authenticated users to candidate or recruiter dashboards.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3657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667572"/>
                </a:solidFill>
                <a:latin typeface="Aptos"/>
              </a:rPr>
              <a:t>AI-POWERED ATS  •  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760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>
                <a:solidFill>
                  <a:srgbClr val="667572"/>
                </a:solidFill>
                <a:latin typeface="Aptos"/>
              </a:rPr>
              <a:t>04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249424"/>
            <a:ext cx="5285232" cy="3456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2104" y="2496312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solidFill>
              <a:srgbClr val="E7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96312"/>
            <a:ext cx="658368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155E52"/>
                </a:solidFill>
                <a:latin typeface="Aptos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6" y="251460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900" b="1">
                <a:solidFill>
                  <a:srgbClr val="162321"/>
                </a:solidFill>
                <a:latin typeface="Aptos"/>
              </a:rPr>
              <a:t>Candidate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889504"/>
            <a:ext cx="13258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237D6D"/>
                </a:solidFill>
                <a:latin typeface="Aptos"/>
              </a:rPr>
              <a:t>SELF-SERVICE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4572000" cy="2011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37D6D"/>
                </a:solidFill>
                <a:latin typeface="Aptos"/>
              </a:rPr>
              <a:t>●  </a:t>
            </a:r>
            <a:r>
              <a:rPr b="1" sz="1250">
                <a:solidFill>
                  <a:srgbClr val="162321"/>
                </a:solidFill>
                <a:latin typeface="Aptos"/>
              </a:rPr>
              <a:t>Profile &amp; skills — </a:t>
            </a:r>
            <a:r>
              <a:rPr sz="1250">
                <a:solidFill>
                  <a:srgbClr val="162321"/>
                </a:solidFill>
                <a:latin typeface="Aptos"/>
              </a:rPr>
              <a:t>capture education, experience, projects and certifications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37D6D"/>
                </a:solidFill>
                <a:latin typeface="Aptos"/>
              </a:rPr>
              <a:t>●  </a:t>
            </a:r>
            <a:r>
              <a:rPr b="1" sz="1250">
                <a:solidFill>
                  <a:srgbClr val="162321"/>
                </a:solidFill>
                <a:latin typeface="Aptos"/>
              </a:rPr>
              <a:t>Resume management — </a:t>
            </a:r>
            <a:r>
              <a:rPr sz="1250">
                <a:solidFill>
                  <a:srgbClr val="162321"/>
                </a:solidFill>
                <a:latin typeface="Aptos"/>
              </a:rPr>
              <a:t>upload PDF and select an active resume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37D6D"/>
                </a:solidFill>
                <a:latin typeface="Aptos"/>
              </a:rPr>
              <a:t>●  </a:t>
            </a:r>
            <a:r>
              <a:rPr b="1" sz="1250">
                <a:solidFill>
                  <a:srgbClr val="162321"/>
                </a:solidFill>
                <a:latin typeface="Aptos"/>
              </a:rPr>
              <a:t>Job discovery — </a:t>
            </a:r>
            <a:r>
              <a:rPr sz="1250">
                <a:solidFill>
                  <a:srgbClr val="162321"/>
                </a:solidFill>
                <a:latin typeface="Aptos"/>
              </a:rPr>
              <a:t>search open roles and inspect requirements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37D6D"/>
                </a:solidFill>
                <a:latin typeface="Aptos"/>
              </a:rPr>
              <a:t>●  </a:t>
            </a:r>
            <a:r>
              <a:rPr b="1" sz="1250">
                <a:solidFill>
                  <a:srgbClr val="162321"/>
                </a:solidFill>
                <a:latin typeface="Aptos"/>
              </a:rPr>
              <a:t>Applications — </a:t>
            </a:r>
            <a:r>
              <a:rPr sz="1250">
                <a:solidFill>
                  <a:srgbClr val="162321"/>
                </a:solidFill>
                <a:latin typeface="Aptos"/>
              </a:rPr>
              <a:t>apply once per job and track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249424"/>
            <a:ext cx="5285232" cy="3456432"/>
          </a:xfrm>
          <a:prstGeom prst="roundRect">
            <a:avLst>
              <a:gd name="adj" fmla="val 12000"/>
            </a:avLst>
          </a:prstGeom>
          <a:solidFill>
            <a:srgbClr val="102C28"/>
          </a:solidFill>
          <a:ln>
            <a:solidFill>
              <a:srgbClr val="102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19672" y="2496312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237D6D"/>
          </a:solidFill>
          <a:ln>
            <a:solidFill>
              <a:srgbClr val="237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496312"/>
            <a:ext cx="658368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0064" y="251460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Recruiter 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2889504"/>
            <a:ext cx="1600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5BD7B6"/>
                </a:solidFill>
                <a:latin typeface="Aptos"/>
              </a:rPr>
              <a:t>DECISION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337560"/>
            <a:ext cx="4572000" cy="2011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5BD7B6"/>
                </a:solidFill>
                <a:latin typeface="Aptos"/>
              </a:rPr>
              <a:t>●  </a:t>
            </a:r>
            <a:r>
              <a:rPr b="1" sz="1250">
                <a:solidFill>
                  <a:srgbClr val="DDEBE7"/>
                </a:solidFill>
                <a:latin typeface="Aptos"/>
              </a:rPr>
              <a:t>Jobs — </a:t>
            </a:r>
            <a:r>
              <a:rPr sz="1250">
                <a:solidFill>
                  <a:srgbClr val="DDEBE7"/>
                </a:solidFill>
                <a:latin typeface="Aptos"/>
              </a:rPr>
              <a:t>create, edit, close and inspect applicant counts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5BD7B6"/>
                </a:solidFill>
                <a:latin typeface="Aptos"/>
              </a:rPr>
              <a:t>●  </a:t>
            </a:r>
            <a:r>
              <a:rPr b="1" sz="1250">
                <a:solidFill>
                  <a:srgbClr val="DDEBE7"/>
                </a:solidFill>
                <a:latin typeface="Aptos"/>
              </a:rPr>
              <a:t>Candidate search — </a:t>
            </a:r>
            <a:r>
              <a:rPr sz="1250">
                <a:solidFill>
                  <a:srgbClr val="DDEBE7"/>
                </a:solidFill>
                <a:latin typeface="Aptos"/>
              </a:rPr>
              <a:t>find people by name, email or skill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5BD7B6"/>
                </a:solidFill>
                <a:latin typeface="Aptos"/>
              </a:rPr>
              <a:t>●  </a:t>
            </a:r>
            <a:r>
              <a:rPr b="1" sz="1250">
                <a:solidFill>
                  <a:srgbClr val="DDEBE7"/>
                </a:solidFill>
                <a:latin typeface="Aptos"/>
              </a:rPr>
              <a:t>Pipeline — </a:t>
            </a:r>
            <a:r>
              <a:rPr sz="1250">
                <a:solidFill>
                  <a:srgbClr val="DDEBE7"/>
                </a:solidFill>
                <a:latin typeface="Aptos"/>
              </a:rPr>
              <a:t>update six statuses and add recruiter notes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5BD7B6"/>
                </a:solidFill>
                <a:latin typeface="Aptos"/>
              </a:rPr>
              <a:t>●  </a:t>
            </a:r>
            <a:r>
              <a:rPr b="1" sz="1250">
                <a:solidFill>
                  <a:srgbClr val="DDEBE7"/>
                </a:solidFill>
                <a:latin typeface="Aptos"/>
              </a:rPr>
              <a:t>Interviews &amp; AI — </a:t>
            </a:r>
            <a:r>
              <a:rPr sz="1250">
                <a:solidFill>
                  <a:srgbClr val="DDEBE7"/>
                </a:solidFill>
                <a:latin typeface="Aptos"/>
              </a:rPr>
              <a:t>schedule details and trigger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102C28"/>
          </a:solidFill>
          <a:ln>
            <a:solidFill>
              <a:srgbClr val="102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6324"/>
            <a:ext cx="3108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2801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02C28"/>
                </a:solidFill>
                <a:latin typeface="Aptos"/>
              </a:rPr>
              <a:t>TalentIQ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37D6D"/>
                </a:solidFill>
                <a:latin typeface="Aptos"/>
              </a:rPr>
              <a:t>04  / 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60704"/>
            <a:ext cx="108813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2321"/>
                </a:solidFill>
                <a:latin typeface="Aptos"/>
              </a:rPr>
              <a:t>Django MVT keeps responsibilities explicit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64208"/>
            <a:ext cx="106070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667572"/>
                </a:solidFill>
                <a:latin typeface="Aptos"/>
              </a:rPr>
              <a:t>The recruitment app turns HTTP requests into validated, persisted workflows.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3657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667572"/>
                </a:solidFill>
                <a:latin typeface="Aptos"/>
              </a:rPr>
              <a:t>AI-POWERED ATS  •  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760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>
                <a:solidFill>
                  <a:srgbClr val="667572"/>
                </a:solidFill>
                <a:latin typeface="Aptos"/>
              </a:rPr>
              <a:t>05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31720"/>
            <a:ext cx="26974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5256" y="2596896"/>
            <a:ext cx="621792" cy="621792"/>
          </a:xfrm>
          <a:prstGeom prst="ellipse">
            <a:avLst/>
          </a:prstGeom>
          <a:solidFill>
            <a:srgbClr val="E9EDFF"/>
          </a:solidFill>
          <a:ln>
            <a:solidFill>
              <a:srgbClr val="E9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596896"/>
            <a:ext cx="621792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4263EB"/>
                </a:solidFill>
                <a:latin typeface="Aptos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624328"/>
            <a:ext cx="144475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2321"/>
                </a:solidFill>
                <a:latin typeface="Aptos"/>
              </a:rPr>
              <a:t>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47288"/>
            <a:ext cx="22402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667572"/>
                </a:solidFill>
                <a:latin typeface="Aptos"/>
              </a:rPr>
              <a:t>Bootstrap UI
17 HTML templates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8768" y="2331720"/>
            <a:ext cx="26974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78224" y="2596896"/>
            <a:ext cx="621792" cy="621792"/>
          </a:xfrm>
          <a:prstGeom prst="ellipse">
            <a:avLst/>
          </a:prstGeom>
          <a:solidFill>
            <a:srgbClr val="E7F4F0"/>
          </a:solidFill>
          <a:ln>
            <a:solidFill>
              <a:srgbClr val="E7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8224" y="2596896"/>
            <a:ext cx="621792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237D6D"/>
                </a:solidFill>
                <a:latin typeface="Aptos"/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2624328"/>
            <a:ext cx="144475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2321"/>
                </a:solidFill>
                <a:latin typeface="Aptos"/>
              </a:rPr>
              <a:t>Views + Forms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7368" y="3447288"/>
            <a:ext cx="22402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667572"/>
                </a:solidFill>
                <a:latin typeface="Aptos"/>
              </a:rPr>
              <a:t>Role decorators
validation + messages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31736" y="2331720"/>
            <a:ext cx="26974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51192" y="2596896"/>
            <a:ext cx="621792" cy="621792"/>
          </a:xfrm>
          <a:prstGeom prst="ellipse">
            <a:avLst/>
          </a:prstGeom>
          <a:solidFill>
            <a:srgbClr val="FFF4E3"/>
          </a:solidFill>
          <a:ln>
            <a:solidFill>
              <a:srgbClr val="FFF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51192" y="2596896"/>
            <a:ext cx="621792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D69338"/>
                </a:solidFill>
                <a:latin typeface="Aptos"/>
              </a:rPr>
              <a:t>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2624328"/>
            <a:ext cx="144475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2321"/>
                </a:solidFill>
                <a:latin typeface="Aptos"/>
              </a:rPr>
              <a:t>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336" y="3447288"/>
            <a:ext cx="22402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667572"/>
                </a:solidFill>
                <a:latin typeface="Aptos"/>
              </a:rPr>
              <a:t>9 domain models
ORM relationships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86416" y="2331720"/>
            <a:ext cx="1325880" cy="2286000"/>
          </a:xfrm>
          <a:prstGeom prst="roundRect">
            <a:avLst>
              <a:gd name="adj" fmla="val 12000"/>
            </a:avLst>
          </a:prstGeom>
          <a:solidFill>
            <a:srgbClr val="102C28"/>
          </a:solidFill>
          <a:ln>
            <a:solidFill>
              <a:srgbClr val="102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69880" y="2615184"/>
            <a:ext cx="758952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5BD7B6"/>
                </a:solidFill>
                <a:latin typeface="Aptos"/>
              </a:rPr>
              <a:t>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0152" y="3264408"/>
            <a:ext cx="987552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services.py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41864" y="3685032"/>
            <a:ext cx="1005840" cy="6766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BFD2CD"/>
                </a:solidFill>
                <a:latin typeface="Aptos"/>
              </a:rPr>
              <a:t>PDF text
OpenRouter
JSON parse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218688"/>
            <a:ext cx="274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237D6D"/>
                </a:solidFill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0256" y="3218688"/>
            <a:ext cx="274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237D6D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218688"/>
            <a:ext cx="274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237D6D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8992" y="5102352"/>
            <a:ext cx="10012680" cy="557784"/>
          </a:xfrm>
          <a:prstGeom prst="roundRect">
            <a:avLst>
              <a:gd name="adj" fmla="val 12000"/>
            </a:avLst>
          </a:prstGeom>
          <a:solidFill>
            <a:srgbClr val="EAF1EE"/>
          </a:solidFill>
          <a:ln>
            <a:solidFill>
              <a:srgbClr val="D5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5239512"/>
            <a:ext cx="10012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50" b="1">
                <a:solidFill>
                  <a:srgbClr val="155E52"/>
                </a:solidFill>
                <a:latin typeface="Aptos"/>
              </a:rPr>
              <a:t>URL  →  view/decorator  →  form validation  →  ORM/service  →  template or JSON response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21808" y="5870448"/>
            <a:ext cx="1078992" cy="310896"/>
          </a:xfrm>
          <a:prstGeom prst="roundRect">
            <a:avLst>
              <a:gd name="adj" fmla="val 12000"/>
            </a:avLst>
          </a:prstGeom>
          <a:solidFill>
            <a:srgbClr val="102C28"/>
          </a:solidFill>
          <a:ln>
            <a:solidFill>
              <a:srgbClr val="102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21808" y="5879592"/>
            <a:ext cx="107899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SQLite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5BD7B6"/>
          </a:solidFill>
          <a:ln>
            <a:solidFill>
              <a:srgbClr val="5BD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6324"/>
            <a:ext cx="3108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102C28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2801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TalentIQ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BD7B6"/>
                </a:solidFill>
                <a:latin typeface="Aptos"/>
              </a:rPr>
              <a:t>05  /  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60704"/>
            <a:ext cx="108813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Relationships preserve the recruitment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64208"/>
            <a:ext cx="106070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BFD2CD"/>
                </a:solidFill>
                <a:latin typeface="Aptos"/>
              </a:rPr>
              <a:t>Foreign keys, one-to-one records and shared skills connect every decision to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3657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9CB7B0"/>
                </a:solidFill>
                <a:latin typeface="Aptos"/>
              </a:rPr>
              <a:t>AI-POWERED ATS  •  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760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>
                <a:solidFill>
                  <a:srgbClr val="9CB7B0"/>
                </a:solidFill>
                <a:latin typeface="Aptos"/>
              </a:rPr>
              <a:t>06 / 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2999232"/>
            <a:ext cx="1527048" cy="0"/>
          </a:xfrm>
          <a:prstGeom prst="line">
            <a:avLst/>
          </a:prstGeom>
          <a:ln w="16510">
            <a:solidFill>
              <a:srgbClr val="5F85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21808" y="2999232"/>
            <a:ext cx="1581912" cy="0"/>
          </a:xfrm>
          <a:prstGeom prst="line">
            <a:avLst/>
          </a:prstGeom>
          <a:ln w="16510">
            <a:solidFill>
              <a:srgbClr val="5F85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39912" y="2999232"/>
            <a:ext cx="1463040" cy="0"/>
          </a:xfrm>
          <a:prstGeom prst="line">
            <a:avLst/>
          </a:prstGeom>
          <a:ln w="16510">
            <a:solidFill>
              <a:srgbClr val="5F85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71816" y="3813048"/>
            <a:ext cx="0" cy="923544"/>
          </a:xfrm>
          <a:prstGeom prst="line">
            <a:avLst/>
          </a:prstGeom>
          <a:ln w="16510">
            <a:solidFill>
              <a:srgbClr val="5F85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242816" y="4736592"/>
            <a:ext cx="3429000" cy="0"/>
          </a:xfrm>
          <a:prstGeom prst="line">
            <a:avLst/>
          </a:prstGeom>
          <a:ln w="16510">
            <a:solidFill>
              <a:srgbClr val="5F85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71816" y="4736592"/>
            <a:ext cx="0" cy="256032"/>
          </a:xfrm>
          <a:prstGeom prst="line">
            <a:avLst/>
          </a:prstGeom>
          <a:ln w="16510">
            <a:solidFill>
              <a:srgbClr val="5F85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71816" y="4736592"/>
            <a:ext cx="2816352" cy="0"/>
          </a:xfrm>
          <a:prstGeom prst="line">
            <a:avLst/>
          </a:prstGeom>
          <a:ln w="16510">
            <a:solidFill>
              <a:srgbClr val="5F85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1792" y="2267712"/>
            <a:ext cx="1627632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2267712"/>
            <a:ext cx="1627632" cy="384048"/>
          </a:xfrm>
          <a:prstGeom prst="rect">
            <a:avLst/>
          </a:prstGeom>
          <a:solidFill>
            <a:srgbClr val="237D6D"/>
          </a:solidFill>
          <a:ln>
            <a:solidFill>
              <a:srgbClr val="237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313432"/>
            <a:ext cx="140817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761488"/>
            <a:ext cx="1335024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162321"/>
                </a:solidFill>
                <a:latin typeface="Aptos"/>
              </a:rPr>
              <a:t>Django auth
1:1 role profile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30752" y="2121408"/>
            <a:ext cx="175564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30752" y="2121408"/>
            <a:ext cx="1755648" cy="384048"/>
          </a:xfrm>
          <a:prstGeom prst="rect">
            <a:avLst/>
          </a:prstGeom>
          <a:solidFill>
            <a:srgbClr val="237D6D"/>
          </a:solidFill>
          <a:ln>
            <a:solidFill>
              <a:srgbClr val="237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2167127"/>
            <a:ext cx="153619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CandidateProfile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7056" y="2615184"/>
            <a:ext cx="1463039" cy="10607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162321"/>
                </a:solidFill>
                <a:latin typeface="Aptos"/>
              </a:rPr>
              <a:t>skills M:N
education • experience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39712" y="2121408"/>
            <a:ext cx="175564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39712" y="2121408"/>
            <a:ext cx="1755648" cy="384048"/>
          </a:xfrm>
          <a:prstGeom prst="rect">
            <a:avLst/>
          </a:prstGeom>
          <a:solidFill>
            <a:srgbClr val="5BD7B6"/>
          </a:solidFill>
          <a:ln>
            <a:solidFill>
              <a:srgbClr val="5BD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167127"/>
            <a:ext cx="153619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615184"/>
            <a:ext cx="1463039" cy="10607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162321"/>
                </a:solidFill>
                <a:latin typeface="Aptos"/>
              </a:rPr>
              <a:t>status • cover letter
AI score + JSON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93808" y="2121408"/>
            <a:ext cx="1682496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93808" y="2121408"/>
            <a:ext cx="1682496" cy="384048"/>
          </a:xfrm>
          <a:prstGeom prst="rect">
            <a:avLst/>
          </a:prstGeom>
          <a:solidFill>
            <a:srgbClr val="D69338"/>
          </a:solidFill>
          <a:ln>
            <a:solidFill>
              <a:srgbClr val="D69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03536" y="2167127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Job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0112" y="2615184"/>
            <a:ext cx="1389888" cy="10607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162321"/>
                </a:solidFill>
                <a:latin typeface="Aptos"/>
              </a:rPr>
              <a:t>required/preferred skills
deadline • 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64992" y="4846320"/>
            <a:ext cx="1755648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64992" y="4846320"/>
            <a:ext cx="1755648" cy="384048"/>
          </a:xfrm>
          <a:prstGeom prst="rect">
            <a:avLst/>
          </a:prstGeom>
          <a:solidFill>
            <a:srgbClr val="4263EB"/>
          </a:solidFill>
          <a:ln>
            <a:solidFill>
              <a:srgbClr val="4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4892040"/>
            <a:ext cx="153619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Resume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11296" y="5340096"/>
            <a:ext cx="1463039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162321"/>
                </a:solidFill>
                <a:latin typeface="Aptos"/>
              </a:rPr>
              <a:t>PDF • extracted text
active flag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39712" y="4846320"/>
            <a:ext cx="1755648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39712" y="4846320"/>
            <a:ext cx="1755648" cy="384048"/>
          </a:xfrm>
          <a:prstGeom prst="rect">
            <a:avLst/>
          </a:prstGeom>
          <a:solidFill>
            <a:srgbClr val="237D6D"/>
          </a:solidFill>
          <a:ln>
            <a:solidFill>
              <a:srgbClr val="237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4892040"/>
            <a:ext cx="153619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AIAnalysis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86016" y="5340096"/>
            <a:ext cx="1463039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162321"/>
                </a:solidFill>
                <a:latin typeface="Aptos"/>
              </a:rPr>
              <a:t>evidence lists • model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37776" y="4846320"/>
            <a:ext cx="1700784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37776" y="4846320"/>
            <a:ext cx="1700784" cy="384048"/>
          </a:xfrm>
          <a:prstGeom prst="rect">
            <a:avLst/>
          </a:prstGeom>
          <a:solidFill>
            <a:srgbClr val="D69338"/>
          </a:solidFill>
          <a:ln>
            <a:solidFill>
              <a:srgbClr val="D69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47503" y="4892040"/>
            <a:ext cx="148132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Interview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5340096"/>
            <a:ext cx="1408176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162321"/>
                </a:solidFill>
                <a:latin typeface="Aptos"/>
              </a:rPr>
              <a:t>time • mode • link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" y="4846320"/>
            <a:ext cx="1938528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" y="4846320"/>
            <a:ext cx="1938528" cy="384048"/>
          </a:xfrm>
          <a:prstGeom prst="rect">
            <a:avLst/>
          </a:prstGeom>
          <a:solidFill>
            <a:srgbClr val="237D6D"/>
          </a:solidFill>
          <a:ln>
            <a:solidFill>
              <a:srgbClr val="237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892040"/>
            <a:ext cx="171907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RecruiterProfile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" y="5340096"/>
            <a:ext cx="1645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162321"/>
                </a:solidFill>
                <a:latin typeface="Aptos"/>
              </a:rPr>
              <a:t>title • department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89904" y="4105656"/>
            <a:ext cx="2167128" cy="310896"/>
          </a:xfrm>
          <a:prstGeom prst="roundRect">
            <a:avLst>
              <a:gd name="adj" fmla="val 12000"/>
            </a:avLst>
          </a:prstGeom>
          <a:solidFill>
            <a:srgbClr val="1C463E"/>
          </a:solidFill>
          <a:ln>
            <a:solidFill>
              <a:srgbClr val="356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9904" y="4114800"/>
            <a:ext cx="216712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BFD2CD"/>
                </a:solidFill>
                <a:latin typeface="Aptos"/>
              </a:rPr>
              <a:t>1 per candidate + job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42832" y="4105656"/>
            <a:ext cx="1261872" cy="310896"/>
          </a:xfrm>
          <a:prstGeom prst="roundRect">
            <a:avLst>
              <a:gd name="adj" fmla="val 12000"/>
            </a:avLst>
          </a:prstGeom>
          <a:solidFill>
            <a:srgbClr val="1C463E"/>
          </a:solidFill>
          <a:ln>
            <a:solidFill>
              <a:srgbClr val="356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42832" y="4114800"/>
            <a:ext cx="126187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5BD7B6"/>
                </a:solidFill>
                <a:latin typeface="Aptos"/>
              </a:rPr>
              <a:t>Skill M:N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102C28"/>
          </a:solidFill>
          <a:ln>
            <a:solidFill>
              <a:srgbClr val="102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6324"/>
            <a:ext cx="3108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2801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02C28"/>
                </a:solidFill>
                <a:latin typeface="Aptos"/>
              </a:rPr>
              <a:t>TalentIQ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37D6D"/>
                </a:solidFill>
                <a:latin typeface="Aptos"/>
              </a:rPr>
              <a:t>06  /  AI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60704"/>
            <a:ext cx="108813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2321"/>
                </a:solidFill>
                <a:latin typeface="Aptos"/>
              </a:rPr>
              <a:t>The API flow is constrained, parsed and auditable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64208"/>
            <a:ext cx="106070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667572"/>
                </a:solidFill>
                <a:latin typeface="Aptos"/>
              </a:rPr>
              <a:t>A recruiter triggers analysis for one application; the result is advisory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3657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667572"/>
                </a:solidFill>
                <a:latin typeface="Aptos"/>
              </a:rPr>
              <a:t>AI-POWERED ATS  •  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760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>
                <a:solidFill>
                  <a:srgbClr val="667572"/>
                </a:solidFill>
                <a:latin typeface="Aptos"/>
              </a:rPr>
              <a:t>07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2496312"/>
            <a:ext cx="1572768" cy="22311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2724912"/>
            <a:ext cx="548640" cy="548640"/>
          </a:xfrm>
          <a:prstGeom prst="ellipse">
            <a:avLst/>
          </a:prstGeom>
          <a:solidFill>
            <a:srgbClr val="237D6D"/>
          </a:solidFill>
          <a:ln>
            <a:solidFill>
              <a:srgbClr val="237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24912"/>
            <a:ext cx="5486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3465576"/>
            <a:ext cx="12984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50" b="1">
                <a:solidFill>
                  <a:srgbClr val="162321"/>
                </a:solidFill>
                <a:latin typeface="Aptos"/>
              </a:rPr>
              <a:t>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3913632"/>
            <a:ext cx="1335024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69" b="0">
                <a:solidFill>
                  <a:srgbClr val="667572"/>
                </a:solidFill>
                <a:latin typeface="Aptos"/>
              </a:rPr>
              <a:t>pypdf reads active PDF
(up to 30k chars)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9696" y="3310128"/>
            <a:ext cx="2743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237D6D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50592" y="2496312"/>
            <a:ext cx="1572768" cy="22311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62656" y="2724912"/>
            <a:ext cx="548640" cy="548640"/>
          </a:xfrm>
          <a:prstGeom prst="ellipse">
            <a:avLst/>
          </a:prstGeom>
          <a:solidFill>
            <a:srgbClr val="237D6D"/>
          </a:solidFill>
          <a:ln>
            <a:solidFill>
              <a:srgbClr val="237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2656" y="2724912"/>
            <a:ext cx="5486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7752" y="3465576"/>
            <a:ext cx="12984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50" b="1">
                <a:solidFill>
                  <a:srgbClr val="162321"/>
                </a:solidFill>
                <a:latin typeface="Aptos"/>
              </a:rPr>
              <a:t>Minimize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9464" y="3913632"/>
            <a:ext cx="1335024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69" b="0">
                <a:solidFill>
                  <a:srgbClr val="667572"/>
                </a:solidFill>
                <a:latin typeface="Aptos"/>
              </a:rPr>
              <a:t>Job qualifications +
anonymized candidate payload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8224" y="3310128"/>
            <a:ext cx="2743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237D6D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496312"/>
            <a:ext cx="1572768" cy="22311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01184" y="2724912"/>
            <a:ext cx="548640" cy="548640"/>
          </a:xfrm>
          <a:prstGeom prst="ellipse">
            <a:avLst/>
          </a:prstGeom>
          <a:solidFill>
            <a:srgbClr val="237D6D"/>
          </a:solidFill>
          <a:ln>
            <a:solidFill>
              <a:srgbClr val="237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01184" y="2724912"/>
            <a:ext cx="5486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465576"/>
            <a:ext cx="12984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50" b="1">
                <a:solidFill>
                  <a:srgbClr val="162321"/>
                </a:solidFill>
                <a:latin typeface="Aptos"/>
              </a:rPr>
              <a:t>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3913632"/>
            <a:ext cx="1335024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69" b="0">
                <a:solidFill>
                  <a:srgbClr val="667572"/>
                </a:solidFill>
                <a:latin typeface="Aptos"/>
              </a:rPr>
              <a:t>OpenRouter chat API
temperature 0.1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3310128"/>
            <a:ext cx="2743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237D6D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7648" y="2496312"/>
            <a:ext cx="1572768" cy="22311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39712" y="2724912"/>
            <a:ext cx="548640" cy="548640"/>
          </a:xfrm>
          <a:prstGeom prst="ellipse">
            <a:avLst/>
          </a:prstGeom>
          <a:solidFill>
            <a:srgbClr val="237D6D"/>
          </a:solidFill>
          <a:ln>
            <a:solidFill>
              <a:srgbClr val="237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9712" y="2724912"/>
            <a:ext cx="5486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3465576"/>
            <a:ext cx="12984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50" b="1">
                <a:solidFill>
                  <a:srgbClr val="162321"/>
                </a:solidFill>
                <a:latin typeface="Aptos"/>
              </a:rPr>
              <a:t>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13632"/>
            <a:ext cx="1335024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69" b="0">
                <a:solidFill>
                  <a:srgbClr val="667572"/>
                </a:solidFill>
                <a:latin typeface="Aptos"/>
              </a:rPr>
              <a:t>Required JSON keys
score clamped 0–100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3310128"/>
            <a:ext cx="2743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237D6D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66176" y="2496312"/>
            <a:ext cx="1572768" cy="22311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40" y="2724912"/>
            <a:ext cx="548640" cy="548640"/>
          </a:xfrm>
          <a:prstGeom prst="ellipse">
            <a:avLst/>
          </a:prstGeom>
          <a:solidFill>
            <a:srgbClr val="237D6D"/>
          </a:solidFill>
          <a:ln>
            <a:solidFill>
              <a:srgbClr val="237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2724912"/>
            <a:ext cx="5486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3465576"/>
            <a:ext cx="12984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50" b="1">
                <a:solidFill>
                  <a:srgbClr val="162321"/>
                </a:solidFill>
                <a:latin typeface="Aptos"/>
              </a:rPr>
              <a:t>Persist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5048" y="3913632"/>
            <a:ext cx="1335024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69" b="0">
                <a:solidFill>
                  <a:srgbClr val="667572"/>
                </a:solidFill>
                <a:latin typeface="Aptos"/>
              </a:rPr>
              <a:t>Application JSON +
AIAnalysis 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93808" y="3310128"/>
            <a:ext cx="2743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237D6D"/>
                </a:solidFill>
                <a:latin typeface="Aptos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04704" y="2496312"/>
            <a:ext cx="1572768" cy="22311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16768" y="2724912"/>
            <a:ext cx="548640" cy="548640"/>
          </a:xfrm>
          <a:prstGeom prst="ellipse">
            <a:avLst/>
          </a:prstGeom>
          <a:solidFill>
            <a:srgbClr val="102C28"/>
          </a:solidFill>
          <a:ln>
            <a:solidFill>
              <a:srgbClr val="102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16768" y="2724912"/>
            <a:ext cx="5486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41864" y="3465576"/>
            <a:ext cx="12984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50" b="1">
                <a:solidFill>
                  <a:srgbClr val="162321"/>
                </a:solidFill>
                <a:latin typeface="Aptos"/>
              </a:rPr>
              <a:t>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23576" y="3913632"/>
            <a:ext cx="1335024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69" b="0">
                <a:solidFill>
                  <a:srgbClr val="667572"/>
                </a:solidFill>
                <a:latin typeface="Aptos"/>
              </a:rPr>
              <a:t>Recruiter reads evidence
and decides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0120" y="5166360"/>
            <a:ext cx="10287000" cy="676656"/>
          </a:xfrm>
          <a:prstGeom prst="roundRect">
            <a:avLst>
              <a:gd name="adj" fmla="val 12000"/>
            </a:avLst>
          </a:prstGeom>
          <a:solidFill>
            <a:srgbClr val="102C28"/>
          </a:solidFill>
          <a:ln>
            <a:solidFill>
              <a:srgbClr val="102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34440" y="5376672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5BD7B6"/>
                </a:solidFill>
                <a:latin typeface="Aptos"/>
              </a:rPr>
              <a:t>RETURNED 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61488" y="5303520"/>
            <a:ext cx="811987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20" b="1">
                <a:solidFill>
                  <a:srgbClr val="FFFFFF"/>
                </a:solidFill>
                <a:latin typeface="Aptos"/>
              </a:rPr>
              <a:t>match score  •  matching &amp; missing skills  •  relevant experience/projects  •  strengths  •  concerns  •  explanation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102C28"/>
          </a:solidFill>
          <a:ln>
            <a:solidFill>
              <a:srgbClr val="102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6324"/>
            <a:ext cx="3108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2801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02C28"/>
                </a:solidFill>
                <a:latin typeface="Aptos"/>
              </a:rPr>
              <a:t>TalentIQ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37D6D"/>
                </a:solidFill>
                <a:latin typeface="Aptos"/>
              </a:rPr>
              <a:t>07  / 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60704"/>
            <a:ext cx="108813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2321"/>
                </a:solidFill>
                <a:latin typeface="Aptos"/>
              </a:rPr>
              <a:t>Responsible assistance needs technical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64208"/>
            <a:ext cx="106070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667572"/>
                </a:solidFill>
                <a:latin typeface="Aptos"/>
              </a:rPr>
              <a:t>The code implements baseline controls; production hardening remains an explicit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3657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667572"/>
                </a:solidFill>
                <a:latin typeface="Aptos"/>
              </a:rPr>
              <a:t>AI-POWERED ATS  •  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760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>
                <a:solidFill>
                  <a:srgbClr val="667572"/>
                </a:solidFill>
                <a:latin typeface="Aptos"/>
              </a:rPr>
              <a:t>08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58568"/>
            <a:ext cx="5376672" cy="36027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3544" y="2551176"/>
            <a:ext cx="1847088" cy="310896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solidFill>
              <a:srgbClr val="E7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560320"/>
            <a:ext cx="18470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55E52"/>
                </a:solidFill>
                <a:latin typeface="Aptos"/>
              </a:rPr>
              <a:t>IMPLEMENTED IN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136392"/>
            <a:ext cx="4681728" cy="2331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37D6D"/>
                </a:solidFill>
                <a:latin typeface="Aptos"/>
              </a:rPr>
              <a:t>●  </a:t>
            </a:r>
            <a:r>
              <a:rPr b="1" sz="1140">
                <a:solidFill>
                  <a:srgbClr val="162321"/>
                </a:solidFill>
                <a:latin typeface="Aptos"/>
              </a:rPr>
              <a:t>Skills-first prompt — </a:t>
            </a:r>
            <a:r>
              <a:rPr sz="1140">
                <a:solidFill>
                  <a:srgbClr val="162321"/>
                </a:solidFill>
                <a:latin typeface="Aptos"/>
              </a:rPr>
              <a:t>protected traits are explicitly excluded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37D6D"/>
                </a:solidFill>
                <a:latin typeface="Aptos"/>
              </a:rPr>
              <a:t>●  </a:t>
            </a:r>
            <a:r>
              <a:rPr b="1" sz="1140">
                <a:solidFill>
                  <a:srgbClr val="162321"/>
                </a:solidFill>
                <a:latin typeface="Aptos"/>
              </a:rPr>
              <a:t>Human authority — </a:t>
            </a:r>
            <a:r>
              <a:rPr sz="1140">
                <a:solidFill>
                  <a:srgbClr val="162321"/>
                </a:solidFill>
                <a:latin typeface="Aptos"/>
              </a:rPr>
              <a:t>score is advisory, not a hiring decision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37D6D"/>
                </a:solidFill>
                <a:latin typeface="Aptos"/>
              </a:rPr>
              <a:t>●  </a:t>
            </a:r>
            <a:r>
              <a:rPr b="1" sz="1140">
                <a:solidFill>
                  <a:srgbClr val="162321"/>
                </a:solidFill>
                <a:latin typeface="Aptos"/>
              </a:rPr>
              <a:t>Access control — </a:t>
            </a:r>
            <a:r>
              <a:rPr sz="1140">
                <a:solidFill>
                  <a:srgbClr val="162321"/>
                </a:solidFill>
                <a:latin typeface="Aptos"/>
              </a:rPr>
              <a:t>login plus candidate/recruiter decorators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37D6D"/>
                </a:solidFill>
                <a:latin typeface="Aptos"/>
              </a:rPr>
              <a:t>●  </a:t>
            </a:r>
            <a:r>
              <a:rPr b="1" sz="1140">
                <a:solidFill>
                  <a:srgbClr val="162321"/>
                </a:solidFill>
                <a:latin typeface="Aptos"/>
              </a:rPr>
              <a:t>Input constraints — </a:t>
            </a:r>
            <a:r>
              <a:rPr sz="1140">
                <a:solidFill>
                  <a:srgbClr val="162321"/>
                </a:solidFill>
                <a:latin typeface="Aptos"/>
              </a:rPr>
              <a:t>PDF-only resume, 5 MB form limit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37D6D"/>
                </a:solidFill>
                <a:latin typeface="Aptos"/>
              </a:rPr>
              <a:t>●  </a:t>
            </a:r>
            <a:r>
              <a:rPr b="1" sz="1140">
                <a:solidFill>
                  <a:srgbClr val="162321"/>
                </a:solidFill>
                <a:latin typeface="Aptos"/>
              </a:rPr>
              <a:t>Integrity — </a:t>
            </a:r>
            <a:r>
              <a:rPr sz="1140">
                <a:solidFill>
                  <a:srgbClr val="162321"/>
                </a:solidFill>
                <a:latin typeface="Aptos"/>
              </a:rPr>
              <a:t>unique application per candidate and job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37D6D"/>
                </a:solidFill>
                <a:latin typeface="Aptos"/>
              </a:rPr>
              <a:t>●  </a:t>
            </a:r>
            <a:r>
              <a:rPr b="1" sz="1140">
                <a:solidFill>
                  <a:srgbClr val="162321"/>
                </a:solidFill>
                <a:latin typeface="Aptos"/>
              </a:rPr>
              <a:t>Web protections — </a:t>
            </a:r>
            <a:r>
              <a:rPr sz="1140">
                <a:solidFill>
                  <a:srgbClr val="162321"/>
                </a:solidFill>
                <a:latin typeface="Aptos"/>
              </a:rPr>
              <a:t>Django CSRF and security middleware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2258568"/>
            <a:ext cx="5248656" cy="3602736"/>
          </a:xfrm>
          <a:prstGeom prst="roundRect">
            <a:avLst>
              <a:gd name="adj" fmla="val 12000"/>
            </a:avLst>
          </a:prstGeom>
          <a:solidFill>
            <a:srgbClr val="102C28"/>
          </a:solidFill>
          <a:ln>
            <a:solidFill>
              <a:srgbClr val="102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92824" y="2551176"/>
            <a:ext cx="1636776" cy="310896"/>
          </a:xfrm>
          <a:prstGeom prst="roundRect">
            <a:avLst>
              <a:gd name="adj" fmla="val 12000"/>
            </a:avLst>
          </a:prstGeom>
          <a:solidFill>
            <a:srgbClr val="1C463E"/>
          </a:solidFill>
          <a:ln>
            <a:solidFill>
              <a:srgbClr val="356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2824" y="2560320"/>
            <a:ext cx="163677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5BD7B6"/>
                </a:solidFill>
                <a:latin typeface="Aptos"/>
              </a:rPr>
              <a:t>BEFORE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136392"/>
            <a:ext cx="4553712" cy="2331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5BD7B6"/>
                </a:solidFill>
                <a:latin typeface="Aptos"/>
              </a:rPr>
              <a:t>●  </a:t>
            </a:r>
            <a:r>
              <a:rPr b="1" sz="1140">
                <a:solidFill>
                  <a:srgbClr val="DDEBE7"/>
                </a:solidFill>
                <a:latin typeface="Aptos"/>
              </a:rPr>
              <a:t>Environment — </a:t>
            </a:r>
            <a:r>
              <a:rPr sz="1140">
                <a:solidFill>
                  <a:srgbClr val="DDEBE7"/>
                </a:solidFill>
                <a:latin typeface="Aptos"/>
              </a:rPr>
              <a:t>disable DEBUG; set a strong SECRET_KEY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5BD7B6"/>
                </a:solidFill>
                <a:latin typeface="Aptos"/>
              </a:rPr>
              <a:t>●  </a:t>
            </a:r>
            <a:r>
              <a:rPr b="1" sz="1140">
                <a:solidFill>
                  <a:srgbClr val="DDEBE7"/>
                </a:solidFill>
                <a:latin typeface="Aptos"/>
              </a:rPr>
              <a:t>Authentication — </a:t>
            </a:r>
            <a:r>
              <a:rPr sz="1140">
                <a:solidFill>
                  <a:srgbClr val="DDEBE7"/>
                </a:solidFill>
                <a:latin typeface="Aptos"/>
              </a:rPr>
              <a:t>enable password validators and review staff provisioning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5BD7B6"/>
                </a:solidFill>
                <a:latin typeface="Aptos"/>
              </a:rPr>
              <a:t>●  </a:t>
            </a:r>
            <a:r>
              <a:rPr b="1" sz="1140">
                <a:solidFill>
                  <a:srgbClr val="DDEBE7"/>
                </a:solidFill>
                <a:latin typeface="Aptos"/>
              </a:rPr>
              <a:t>Transport — </a:t>
            </a:r>
            <a:r>
              <a:rPr sz="1140">
                <a:solidFill>
                  <a:srgbClr val="DDEBE7"/>
                </a:solidFill>
                <a:latin typeface="Aptos"/>
              </a:rPr>
              <a:t>HTTPS, secure cookies and trusted origins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5BD7B6"/>
                </a:solidFill>
                <a:latin typeface="Aptos"/>
              </a:rPr>
              <a:t>●  </a:t>
            </a:r>
            <a:r>
              <a:rPr b="1" sz="1140">
                <a:solidFill>
                  <a:srgbClr val="DDEBE7"/>
                </a:solidFill>
                <a:latin typeface="Aptos"/>
              </a:rPr>
              <a:t>Data lifecycle — </a:t>
            </a:r>
            <a:r>
              <a:rPr sz="1140">
                <a:solidFill>
                  <a:srgbClr val="DDEBE7"/>
                </a:solidFill>
                <a:latin typeface="Aptos"/>
              </a:rPr>
              <a:t>retention, deletion and encrypted backups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5BD7B6"/>
                </a:solidFill>
                <a:latin typeface="Aptos"/>
              </a:rPr>
              <a:t>●  </a:t>
            </a:r>
            <a:r>
              <a:rPr b="1" sz="1140">
                <a:solidFill>
                  <a:srgbClr val="DDEBE7"/>
                </a:solidFill>
                <a:latin typeface="Aptos"/>
              </a:rPr>
              <a:t>Oversight — </a:t>
            </a:r>
            <a:r>
              <a:rPr sz="1140">
                <a:solidFill>
                  <a:srgbClr val="DDEBE7"/>
                </a:solidFill>
                <a:latin typeface="Aptos"/>
              </a:rPr>
              <a:t>audit logs, bias checks and recruiter training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5BD7B6"/>
                </a:solidFill>
                <a:latin typeface="Aptos"/>
              </a:rPr>
              <a:t>●  </a:t>
            </a:r>
            <a:r>
              <a:rPr b="1" sz="1140">
                <a:solidFill>
                  <a:srgbClr val="DDEBE7"/>
                </a:solidFill>
                <a:latin typeface="Aptos"/>
              </a:rPr>
              <a:t>Resilience — </a:t>
            </a:r>
            <a:r>
              <a:rPr sz="1140">
                <a:solidFill>
                  <a:srgbClr val="DDEBE7"/>
                </a:solidFill>
                <a:latin typeface="Aptos"/>
              </a:rPr>
              <a:t>rate limits, timeouts and provider failure handling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5BD7B6"/>
          </a:solidFill>
          <a:ln>
            <a:solidFill>
              <a:srgbClr val="5BD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6324"/>
            <a:ext cx="3108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102C28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2801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TalentIQ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BD7B6"/>
                </a:solidFill>
                <a:latin typeface="Aptos"/>
              </a:rPr>
              <a:t>08  / 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60704"/>
            <a:ext cx="108813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A seven-minute proof of the complete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64208"/>
            <a:ext cx="106070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BFD2CD"/>
                </a:solidFill>
                <a:latin typeface="Aptos"/>
              </a:rPr>
              <a:t>Follow one candidate and one role from setup to recruiter decision support.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3657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9CB7B0"/>
                </a:solidFill>
                <a:latin typeface="Aptos"/>
              </a:rPr>
              <a:t>AI-POWERED ATS  •  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760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>
                <a:solidFill>
                  <a:srgbClr val="9CB7B0"/>
                </a:solidFill>
                <a:latin typeface="Aptos"/>
              </a:rPr>
              <a:t>09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2331720"/>
            <a:ext cx="3419856" cy="1261872"/>
          </a:xfrm>
          <a:prstGeom prst="roundRect">
            <a:avLst>
              <a:gd name="adj" fmla="val 12000"/>
            </a:avLst>
          </a:prstGeom>
          <a:solidFill>
            <a:srgbClr val="173B35"/>
          </a:solidFill>
          <a:ln>
            <a:solidFill>
              <a:srgbClr val="356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569463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BD7B6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3895" y="2532888"/>
            <a:ext cx="23317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Recruiter creates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3895" y="2971800"/>
            <a:ext cx="231343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40" b="0">
                <a:solidFill>
                  <a:srgbClr val="BFD2CD"/>
                </a:solidFill>
                <a:latin typeface="Aptos"/>
              </a:rPr>
              <a:t>Requirements, skills, deadline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2331720"/>
            <a:ext cx="3419856" cy="1261872"/>
          </a:xfrm>
          <a:prstGeom prst="roundRect">
            <a:avLst>
              <a:gd name="adj" fmla="val 12000"/>
            </a:avLst>
          </a:prstGeom>
          <a:solidFill>
            <a:srgbClr val="173B35"/>
          </a:solidFill>
          <a:ln>
            <a:solidFill>
              <a:srgbClr val="356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569463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BD7B6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2532888"/>
            <a:ext cx="23317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Candidate registers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4376" y="2971800"/>
            <a:ext cx="231343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40" b="0">
                <a:solidFill>
                  <a:srgbClr val="BFD2CD"/>
                </a:solidFill>
                <a:latin typeface="Aptos"/>
              </a:rPr>
              <a:t>Profile, skills and PDF resume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8472" y="2331720"/>
            <a:ext cx="3419856" cy="1261872"/>
          </a:xfrm>
          <a:prstGeom prst="roundRect">
            <a:avLst>
              <a:gd name="adj" fmla="val 12000"/>
            </a:avLst>
          </a:prstGeom>
          <a:solidFill>
            <a:srgbClr val="173B35"/>
          </a:solidFill>
          <a:ln>
            <a:solidFill>
              <a:srgbClr val="356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7928" y="2569463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BD7B6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2532888"/>
            <a:ext cx="23317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Candidate applies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971800"/>
            <a:ext cx="231343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40" b="0">
                <a:solidFill>
                  <a:srgbClr val="BFD2CD"/>
                </a:solidFill>
                <a:latin typeface="Aptos"/>
              </a:rPr>
              <a:t>Resume + cover letter; duplicate blocked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" y="3959352"/>
            <a:ext cx="3419856" cy="1261872"/>
          </a:xfrm>
          <a:prstGeom prst="roundRect">
            <a:avLst>
              <a:gd name="adj" fmla="val 12000"/>
            </a:avLst>
          </a:prstGeom>
          <a:solidFill>
            <a:srgbClr val="173B35"/>
          </a:solidFill>
          <a:ln>
            <a:solidFill>
              <a:srgbClr val="356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197096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BD7B6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53895" y="4160520"/>
            <a:ext cx="23317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Recruiter opens queue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599432"/>
            <a:ext cx="231343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40" b="0">
                <a:solidFill>
                  <a:srgbClr val="BFD2CD"/>
                </a:solidFill>
                <a:latin typeface="Aptos"/>
              </a:rPr>
              <a:t>Candidates ranked by available AI score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07992" y="3959352"/>
            <a:ext cx="3419856" cy="1261872"/>
          </a:xfrm>
          <a:prstGeom prst="roundRect">
            <a:avLst>
              <a:gd name="adj" fmla="val 12000"/>
            </a:avLst>
          </a:prstGeom>
          <a:solidFill>
            <a:srgbClr val="173B35"/>
          </a:solidFill>
          <a:ln>
            <a:solidFill>
              <a:srgbClr val="356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7448" y="4197096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BD7B6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4376" y="4160520"/>
            <a:ext cx="23317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Run live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4376" y="4599432"/>
            <a:ext cx="231343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40" b="0">
                <a:solidFill>
                  <a:srgbClr val="BFD2CD"/>
                </a:solidFill>
                <a:latin typeface="Aptos"/>
              </a:rPr>
              <a:t>Inspect fit, gaps and explanation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48472" y="3959352"/>
            <a:ext cx="3419856" cy="1261872"/>
          </a:xfrm>
          <a:prstGeom prst="roundRect">
            <a:avLst>
              <a:gd name="adj" fmla="val 12000"/>
            </a:avLst>
          </a:prstGeom>
          <a:solidFill>
            <a:srgbClr val="173B35"/>
          </a:solidFill>
          <a:ln>
            <a:solidFill>
              <a:srgbClr val="356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67928" y="4197096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BD7B6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6" y="4160520"/>
            <a:ext cx="23317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Advance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856" y="4599432"/>
            <a:ext cx="231343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40" b="0">
                <a:solidFill>
                  <a:srgbClr val="BFD2CD"/>
                </a:solidFill>
                <a:latin typeface="Aptos"/>
              </a:rPr>
              <a:t>Shortlist and schedule interview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61488" y="5687568"/>
            <a:ext cx="6656832" cy="475488"/>
          </a:xfrm>
          <a:prstGeom prst="roundRect">
            <a:avLst>
              <a:gd name="adj" fmla="val 12000"/>
            </a:avLst>
          </a:prstGeom>
          <a:solidFill>
            <a:srgbClr val="5BD7B6"/>
          </a:solidFill>
          <a:ln>
            <a:solidFill>
              <a:srgbClr val="5BD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61488" y="5797296"/>
            <a:ext cx="66568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02C28"/>
                </a:solidFill>
                <a:latin typeface="Aptos"/>
              </a:rPr>
              <a:t>End state: evidence visible, status recorded, interview linked to the application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102C28"/>
          </a:solidFill>
          <a:ln>
            <a:solidFill>
              <a:srgbClr val="102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6324"/>
            <a:ext cx="3108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2801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02C28"/>
                </a:solidFill>
                <a:latin typeface="Aptos"/>
              </a:rPr>
              <a:t>TalentIQ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37D6D"/>
                </a:solidFill>
                <a:latin typeface="Aptos"/>
              </a:rPr>
              <a:t>09  / 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60704"/>
            <a:ext cx="108813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2321"/>
                </a:solidFill>
                <a:latin typeface="Aptos"/>
              </a:rPr>
              <a:t>TalentIQ makes recruitment evidence easier to act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64208"/>
            <a:ext cx="106070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667572"/>
                </a:solidFill>
                <a:latin typeface="Aptos"/>
              </a:rPr>
              <a:t>The project combines practical workflow design with bounded AI assistance.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3657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667572"/>
                </a:solidFill>
                <a:latin typeface="Aptos"/>
              </a:rPr>
              <a:t>AI-POWERED ATS  •  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760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>
                <a:solidFill>
                  <a:srgbClr val="667572"/>
                </a:solidFill>
                <a:latin typeface="Aptos"/>
              </a:rPr>
              <a:t>10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2395728"/>
            <a:ext cx="3383280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" y="2395728"/>
            <a:ext cx="3383280" cy="82296"/>
          </a:xfrm>
          <a:prstGeom prst="rect">
            <a:avLst/>
          </a:prstGeom>
          <a:solidFill>
            <a:srgbClr val="237D6D"/>
          </a:solidFill>
          <a:ln>
            <a:solidFill>
              <a:srgbClr val="237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715768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37D6D"/>
                </a:solidFill>
                <a:latin typeface="Aptos"/>
              </a:rPr>
              <a:t>ORGANIZE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72968"/>
            <a:ext cx="2770632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2321"/>
                </a:solidFill>
                <a:latin typeface="Aptos"/>
              </a:rPr>
              <a:t>A shared record for jobs, candidates, resumes and applications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395728"/>
            <a:ext cx="3383280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2395728"/>
            <a:ext cx="3383280" cy="82296"/>
          </a:xfrm>
          <a:prstGeom prst="rect">
            <a:avLst/>
          </a:prstGeom>
          <a:solidFill>
            <a:srgbClr val="4263EB"/>
          </a:solidFill>
          <a:ln>
            <a:solidFill>
              <a:srgbClr val="4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2715768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4263EB"/>
                </a:solidFill>
                <a:latin typeface="Aptos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3172968"/>
            <a:ext cx="2770632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2321"/>
                </a:solidFill>
                <a:latin typeface="Aptos"/>
              </a:rPr>
              <a:t>Structured AI output exposes evidence—not just a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93608" y="2395728"/>
            <a:ext cx="3383280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93608" y="2395728"/>
            <a:ext cx="3383280" cy="82296"/>
          </a:xfrm>
          <a:prstGeom prst="rect">
            <a:avLst/>
          </a:prstGeom>
          <a:solidFill>
            <a:srgbClr val="D69338"/>
          </a:solidFill>
          <a:ln>
            <a:solidFill>
              <a:srgbClr val="D69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715768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D69338"/>
                </a:solidFill>
                <a:latin typeface="Aptos"/>
              </a:rPr>
              <a:t>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172968"/>
            <a:ext cx="2770632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2321"/>
                </a:solidFill>
                <a:latin typeface="Aptos"/>
              </a:rPr>
              <a:t>Role-aware workflow keeps the recruiter responsible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" y="4754880"/>
            <a:ext cx="10771632" cy="950976"/>
          </a:xfrm>
          <a:prstGeom prst="roundRect">
            <a:avLst>
              <a:gd name="adj" fmla="val 12000"/>
            </a:avLst>
          </a:prstGeom>
          <a:solidFill>
            <a:srgbClr val="102C28"/>
          </a:solidFill>
          <a:ln>
            <a:solidFill>
              <a:srgbClr val="102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5084064"/>
            <a:ext cx="566928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BD7B6"/>
                </a:solidFill>
                <a:latin typeface="Aptos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5648" y="5001768"/>
            <a:ext cx="187451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Harden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2463" y="4974336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5BD7B6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1104" y="5001768"/>
            <a:ext cx="168249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Add auditability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9904" y="4974336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5BD7B6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5001768"/>
            <a:ext cx="23317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Measure fairness &amp;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424" y="4974336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5BD7B6"/>
                </a:solidFill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1784" y="5001768"/>
            <a:ext cx="8229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Pilot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8" y="5998464"/>
            <a:ext cx="33832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155E52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ATS — TalentIQ</dc:title>
  <dc:subject>Django recruitment workflow with AI-assisted candidate analysis</dc:subject>
  <dc:creator>TalentIQ project team</dc:creator>
  <cp:keywords>ATS, Django, OpenRouter, recruitment, AI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